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F5257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27.81%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33.55%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43.21%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53.82%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67.69%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0–7 days</c:v>
                </c:pt>
                <c:pt idx="1">
                  <c:v>8–14 days</c:v>
                </c:pt>
                <c:pt idx="2">
                  <c:v>15–30 days</c:v>
                </c:pt>
                <c:pt idx="3">
                  <c:v>31–45 days</c:v>
                </c:pt>
                <c:pt idx="4">
                  <c:v>46–60 days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27.81</c:v>
                </c:pt>
                <c:pt idx="1">
                  <c:v>33.55</c:v>
                </c:pt>
                <c:pt idx="2">
                  <c:v>43.21</c:v>
                </c:pt>
                <c:pt idx="3">
                  <c:v>53.82</c:v>
                </c:pt>
                <c:pt idx="4">
                  <c:v>67.69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E4E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C6E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798021c-7dd5-490c-ab63-7bdf9740e93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F5257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43.51%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53.49%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59.36%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67.95%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66.67%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43.51</c:v>
                </c:pt>
                <c:pt idx="1">
                  <c:v>53.49</c:v>
                </c:pt>
                <c:pt idx="2">
                  <c:v>59.36</c:v>
                </c:pt>
                <c:pt idx="3">
                  <c:v>67.95</c:v>
                </c:pt>
                <c:pt idx="4">
                  <c:v>66.67</c:v>
                </c:pt>
                <c:pt idx="5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C6E7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C6E70"/>
                    </a:solidFill>
                    <a:latin typeface="Arial" panose="020B0604020202020204"/>
                  </a:rPr>
                  <a:t>Previous no-shows</a:t>
                </a:r>
                <a:endParaRPr sz="1100" b="0" i="0" u="none" strike="noStrike">
                  <a:solidFill>
                    <a:srgbClr val="5C6E7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E4E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C6E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f324478-449e-4d6d-a5ab-b4e56dedded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Previous no-shows: 0</c:v>
                </c:pt>
              </c:strCache>
            </c:strRef>
          </c:tx>
          <c:spPr>
            <a:solidFill>
              <a:srgbClr val="9FCCC5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21.77%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61.68%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0–7 days</c:v>
                </c:pt>
                <c:pt idx="1">
                  <c:v>46–60 days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21.77</c:v>
                </c:pt>
                <c:pt idx="1">
                  <c:v>61.68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Previous no-shows: 1</c:v>
                </c:pt>
              </c:strCache>
            </c:strRef>
          </c:tx>
          <c:spPr>
            <a:solidFill>
              <a:srgbClr val="0F5257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33.16%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73.67%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0–7 days</c:v>
                </c:pt>
                <c:pt idx="1">
                  <c:v>46–60 days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33.16</c:v>
                </c:pt>
                <c:pt idx="1">
                  <c:v>73.67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Previous no-shows: 2+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43.59%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82.11%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0–7 days</c:v>
                </c:pt>
                <c:pt idx="1">
                  <c:v>46–60 days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43.59</c:v>
                </c:pt>
                <c:pt idx="1">
                  <c:v>82.11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E4E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6E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50" b="0" i="0" u="none" strike="noStrike" kern="1200" baseline="0">
              <a:solidFill>
                <a:srgbClr val="5C6E70"/>
              </a:solidFill>
              <a:latin typeface="Calibri" panose="020F0502020204030204"/>
              <a:ea typeface="+mn-ea"/>
              <a:cs typeface="Calibri" panose="020F0502020204030204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edba04c-ef42-4153-8ff5-ae9279b4ee3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reminder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29.94%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73.51%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0–7 days</c:v>
                </c:pt>
                <c:pt idx="1">
                  <c:v>46–60 days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29.94</c:v>
                </c:pt>
                <c:pt idx="1">
                  <c:v>73.51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Reminder sent</c:v>
                </c:pt>
              </c:strCache>
            </c:strRef>
          </c:tx>
          <c:spPr>
            <a:solidFill>
              <a:srgbClr val="5FA8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27.06%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65.66%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0–7 days</c:v>
                </c:pt>
                <c:pt idx="1">
                  <c:v>46–60 days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27.06</c:v>
                </c:pt>
                <c:pt idx="1">
                  <c:v>65.66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E4E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6E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5C6E70"/>
              </a:solidFill>
              <a:latin typeface="Calibri" panose="020F0502020204030204"/>
              <a:ea typeface="+mn-ea"/>
              <a:cs typeface="Calibri" panose="020F0502020204030204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f2d2d1-1e22-4ece-9369-1449168510a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F5257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2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46.45%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2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57.76%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0–5 km</c:v>
                </c:pt>
                <c:pt idx="1">
                  <c:v>20+ km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46.45</c:v>
                </c:pt>
                <c:pt idx="1">
                  <c:v>57.76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E4E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6E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EAF3F1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7c7c95b-2b4b-499f-8642-3274fbe44167}"/>
      </c:ext>
    </c:extLst>
  </c:chart>
  <c:spPr>
    <a:solidFill>
      <a:srgbClr val="EAF3F1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l">
              <a:defRPr lang="en-US" sz="1100" b="0" i="0" u="none" strike="noStrike" kern="1200" baseline="0">
                <a:solidFill>
                  <a:srgbClr val="5C6E70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5C6E70"/>
                </a:solidFill>
                <a:latin typeface="Calibri" panose="020F0502020204030204"/>
              </a:rPr>
              <a:t>Within 65+: no-show rate by booking lead time (days)</a:t>
            </a:r>
            <a:endParaRPr sz="1100" b="0" i="0" u="none" strike="noStrike">
              <a:solidFill>
                <a:srgbClr val="5C6E70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65+ no-show rate</c:v>
                </c:pt>
              </c:strCache>
            </c:strRef>
          </c:tx>
          <c:spPr>
            <a:solidFill>
              <a:srgbClr val="0F5257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29.12%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26.11%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39.31%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56.63%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F2A2E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62.09%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F2A2E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0–7</c:v>
                </c:pt>
                <c:pt idx="1">
                  <c:v>8–14</c:v>
                </c:pt>
                <c:pt idx="2">
                  <c:v>15–30</c:v>
                </c:pt>
                <c:pt idx="3">
                  <c:v>31–45</c:v>
                </c:pt>
                <c:pt idx="4">
                  <c:v>46–60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29.12</c:v>
                </c:pt>
                <c:pt idx="1">
                  <c:v>26.11</c:v>
                </c:pt>
                <c:pt idx="2">
                  <c:v>39.31</c:v>
                </c:pt>
                <c:pt idx="3">
                  <c:v>56.63</c:v>
                </c:pt>
                <c:pt idx="4">
                  <c:v>62.09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E4E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5C6E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c6ce750-f7b3-4896-ad17-582d278ffdc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966960" y="4892040"/>
            <a:ext cx="960120" cy="960120"/>
          </a:xfrm>
          <a:prstGeom prst="ellipse">
            <a:avLst/>
          </a:prstGeom>
          <a:solidFill>
            <a:srgbClr val="E4572E">
              <a:alpha val="7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024128" y="978408"/>
            <a:ext cx="786384" cy="786384"/>
          </a:xfrm>
          <a:prstGeom prst="ellipse">
            <a:avLst/>
          </a:prstGeom>
          <a:solidFill>
            <a:srgbClr val="5FA8A0"/>
          </a:solidFill>
        </p:spPr>
      </p:sp>
      <p:sp>
        <p:nvSpPr>
          <p:cNvPr id="7" name="Text 4"/>
          <p:cNvSpPr/>
          <p:nvPr/>
        </p:nvSpPr>
        <p:spPr>
          <a:xfrm>
            <a:off x="868680" y="21488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4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TRACK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487168"/>
            <a:ext cx="10515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HealthConnect Clinic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68680" y="3493008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Integration &amp; Decision Support Package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86968" y="4224528"/>
            <a:ext cx="1920240" cy="0"/>
          </a:xfrm>
          <a:prstGeom prst="line">
            <a:avLst/>
          </a:prstGeom>
          <a:noFill/>
          <a:ln w="25400">
            <a:solidFill>
              <a:srgbClr val="5FA8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3891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8 · Final Integration, Presentation &amp; Project Showcase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9893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 Esther Joseph·  Data Analytics Intern, AnalystLab Africa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6263640"/>
            <a:ext cx="9601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6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HealthConnect Appointment Dataset  ·  5,000 records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validated decision-support package for missed appointments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81580" cy="1417320"/>
          </a:xfrm>
          <a:prstGeom prst="roundRect">
            <a:avLst>
              <a:gd name="adj" fmla="val 5806"/>
            </a:avLst>
          </a:prstGeom>
          <a:solidFill>
            <a:srgbClr val="EAF3F1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192731"/>
            <a:ext cx="2307260" cy="7086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901391"/>
            <a:ext cx="2307260" cy="4251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 analyzed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6252" y="1965960"/>
            <a:ext cx="2581580" cy="1417320"/>
          </a:xfrm>
          <a:prstGeom prst="roundRect">
            <a:avLst>
              <a:gd name="adj" fmla="val 5806"/>
            </a:avLst>
          </a:prstGeom>
          <a:solidFill>
            <a:srgbClr val="FBDCD0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3412" y="2192731"/>
            <a:ext cx="2307260" cy="7086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48.46%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3412" y="2901391"/>
            <a:ext cx="2307260" cy="4251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No-show 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3864" y="1965960"/>
            <a:ext cx="2581580" cy="1417320"/>
          </a:xfrm>
          <a:prstGeom prst="roundRect">
            <a:avLst>
              <a:gd name="adj" fmla="val 5806"/>
            </a:avLst>
          </a:prstGeom>
          <a:solidFill>
            <a:srgbClr val="EAF3F1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1024" y="2192731"/>
            <a:ext cx="2307260" cy="7086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46.28%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1024" y="2901391"/>
            <a:ext cx="2307260" cy="4251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61475" y="1965960"/>
            <a:ext cx="2581580" cy="1417320"/>
          </a:xfrm>
          <a:prstGeom prst="roundRect">
            <a:avLst>
              <a:gd name="adj" fmla="val 5806"/>
            </a:avLst>
          </a:prstGeom>
          <a:solidFill>
            <a:srgbClr val="EAF3F1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8635" y="2192731"/>
            <a:ext cx="2307260" cy="7086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72.68%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98635" y="2901391"/>
            <a:ext cx="2307260" cy="4251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 coverage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94415" cy="1874520"/>
          </a:xfrm>
          <a:prstGeom prst="roundRect">
            <a:avLst>
              <a:gd name="adj" fmla="val 4878"/>
            </a:avLst>
          </a:prstGeom>
          <a:solidFill>
            <a:srgbClr val="0A3B3F"/>
          </a:solidFill>
        </p:spPr>
      </p:sp>
      <p:sp>
        <p:nvSpPr>
          <p:cNvPr id="17" name="Shape 15"/>
          <p:cNvSpPr/>
          <p:nvPr/>
        </p:nvSpPr>
        <p:spPr>
          <a:xfrm>
            <a:off x="868680" y="4041648"/>
            <a:ext cx="566928" cy="566928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18" name="Image 0" descr="/home/claude/healthconnect_deck/icons/trending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4183380"/>
            <a:ext cx="283464" cy="28346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36776" y="4023360"/>
            <a:ext cx="4261104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time &amp; history matter most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636776" y="4315968"/>
            <a:ext cx="4261104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Longer lead times and greater previous no-show history show the strongest, most consistent links to missed appointments — individually and, more sharply, in combination.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37960" y="4041648"/>
            <a:ext cx="566928" cy="566928"/>
          </a:xfrm>
          <a:prstGeom prst="ellipse">
            <a:avLst/>
          </a:prstGeom>
          <a:solidFill>
            <a:srgbClr val="5FA8A0"/>
          </a:solidFill>
        </p:spPr>
      </p:sp>
      <p:pic>
        <p:nvPicPr>
          <p:cNvPr id="22" name="Image 1" descr="/home/claude/healthconnect_deck/icons/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4183380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06056" y="4023360"/>
            <a:ext cx="4169664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end-to-end and cross-track integrated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7306056" y="4315968"/>
            <a:ext cx="4169664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KPIs and findings were recalculated and revalidated in Week 7, then connected with Data Science modelling observations to support shared, boundary-aware interpretation.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HealthConnect needs this analysis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5" name="Image 0" descr="/home/claude/healthconnect_deck/icons/calend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9248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764792"/>
            <a:ext cx="4596232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missed appointments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16736" y="2057400"/>
            <a:ext cx="459623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the overall no-show rate across the clinic.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78728" y="1783080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9" name="Image 1" descr="/home/claude/healthconnect_deck/icons/a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460" y="192481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6824" y="1764792"/>
            <a:ext cx="4596232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patient attendance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046824" y="2057400"/>
            <a:ext cx="459623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 more booked patients actually show up.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13" name="Image 2" descr="/home/claude/healthconnect_deck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15925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2999232"/>
            <a:ext cx="4596232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better use of slots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16736" y="3291840"/>
            <a:ext cx="459623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capacity lost to unattended appointments.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78728" y="3017520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17" name="Image 3" descr="/home/claude/healthconnect_deck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460" y="3159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6824" y="2999232"/>
            <a:ext cx="4596232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administrative support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046824" y="3291840"/>
            <a:ext cx="459623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staff clearer, evidence-based priorities.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EAF3F1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14400" y="4343400"/>
            <a:ext cx="103628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CENTRAL QUESTION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14400" y="4617720"/>
            <a:ext cx="10362895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A3B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can HealthConnect Clinic use data and AI to reduce missed appointments and improve the patient support experience?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SCENARIO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CONTINUITY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problem understanding to final showcase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1560" y="2606040"/>
            <a:ext cx="10088575" cy="0"/>
          </a:xfrm>
          <a:prstGeom prst="line">
            <a:avLst/>
          </a:prstGeom>
          <a:noFill/>
          <a:ln w="25400">
            <a:solidFill>
              <a:srgbClr val="D8E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2050" y="2350008"/>
            <a:ext cx="512064" cy="512064"/>
          </a:xfrm>
          <a:prstGeom prst="ellipse">
            <a:avLst/>
          </a:prstGeom>
          <a:solidFill>
            <a:srgbClr val="0F52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2050" y="235000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645920"/>
            <a:ext cx="2072579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990088"/>
            <a:ext cx="2072579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3493008"/>
            <a:ext cx="2072579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review &amp; solution planning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20933" y="2350008"/>
            <a:ext cx="512064" cy="512064"/>
          </a:xfrm>
          <a:prstGeom prst="ellipse">
            <a:avLst/>
          </a:prstGeom>
          <a:solidFill>
            <a:srgbClr val="0F52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0933" y="235000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40675" y="1645920"/>
            <a:ext cx="2072579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40675" y="2990088"/>
            <a:ext cx="2072579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 &amp;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40675" y="3493008"/>
            <a:ext cx="2072579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 implementation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39816" y="2350008"/>
            <a:ext cx="512064" cy="512064"/>
          </a:xfrm>
          <a:prstGeom prst="ellipse">
            <a:avLst/>
          </a:prstGeom>
          <a:solidFill>
            <a:srgbClr val="0F52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9816" y="235000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59558" y="1645920"/>
            <a:ext cx="2072579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59558" y="2990088"/>
            <a:ext cx="2072579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59558" y="3493008"/>
            <a:ext cx="2072579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development &amp;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58699" y="2350008"/>
            <a:ext cx="512064" cy="512064"/>
          </a:xfrm>
          <a:prstGeom prst="ellipse">
            <a:avLst/>
          </a:prstGeom>
          <a:solidFill>
            <a:srgbClr val="0F52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58699" y="235000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78441" y="1645920"/>
            <a:ext cx="2072579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78441" y="2990088"/>
            <a:ext cx="2072579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Refinement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78441" y="3493008"/>
            <a:ext cx="2072579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validation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77582" y="2350008"/>
            <a:ext cx="512064" cy="512064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77582" y="235000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97324" y="1645920"/>
            <a:ext cx="2072579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8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97324" y="2990088"/>
            <a:ext cx="2072579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Integration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97324" y="3493008"/>
            <a:ext cx="2072579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&amp; showcase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0A3B3F"/>
          </a:solidFill>
        </p:spPr>
      </p:sp>
      <p:sp>
        <p:nvSpPr>
          <p:cNvPr id="31" name="Text 29"/>
          <p:cNvSpPr/>
          <p:nvPr/>
        </p:nvSpPr>
        <p:spPr>
          <a:xfrm>
            <a:off x="868680" y="5212080"/>
            <a:ext cx="1045433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8 continues directly from Weeks 4–7 — no new project or unrelated dataset was introduced. The original appointment dataset remains untouched; a separately saved, cleaned file underpins every Analytics result shown here.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CONTINUITY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clean, validated foundation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60520" cy="123444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80590"/>
            <a:ext cx="3886200" cy="6172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597810"/>
            <a:ext cx="3886200" cy="3703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160520" cy="123444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352190"/>
            <a:ext cx="3886200" cy="6172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3969410"/>
            <a:ext cx="3886200" cy="3703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 per record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4160520" cy="123444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4723790"/>
            <a:ext cx="3886200" cy="6172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5341010"/>
            <a:ext cx="3886200" cy="3703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records found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66360" y="1783080"/>
            <a:ext cx="6476695" cy="3977640"/>
          </a:xfrm>
          <a:prstGeom prst="roundRect">
            <a:avLst>
              <a:gd name="adj" fmla="val 2299"/>
            </a:avLst>
          </a:prstGeom>
          <a:solidFill>
            <a:srgbClr val="EAF3F1"/>
          </a:solidFill>
        </p:spPr>
      </p:sp>
      <p:sp>
        <p:nvSpPr>
          <p:cNvPr id="14" name="Text 12"/>
          <p:cNvSpPr/>
          <p:nvPr/>
        </p:nvSpPr>
        <p:spPr>
          <a:xfrm>
            <a:off x="5486400" y="1993392"/>
            <a:ext cx="58366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MISSING-VALUE FINDINGS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395728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B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1,366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6478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reminder_channel values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0" y="2898648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B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2898648"/>
            <a:ext cx="46478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distance values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0" y="3401568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B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3401568"/>
            <a:ext cx="46478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waiting-time values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0" y="3977640"/>
            <a:ext cx="5836615" cy="0"/>
          </a:xfrm>
          <a:prstGeom prst="line">
            <a:avLst/>
          </a:prstGeom>
          <a:noFill/>
          <a:ln w="12700">
            <a:solidFill>
              <a:srgbClr val="5F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4160520"/>
            <a:ext cx="5836615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reminder_channel values line up with appointments where no reminder was sent — treated as a structural condition, not random missing data. Outcomes recorded: No-Show, Attended, Cancelled.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852160"/>
            <a:ext cx="11094415" cy="0"/>
          </a:xfrm>
          <a:prstGeom prst="roundRect">
            <a:avLst/>
          </a:prstGeom>
          <a:noFill/>
        </p:spPr>
      </p:sp>
      <p:sp>
        <p:nvSpPr>
          <p:cNvPr id="24" name="Shape 22"/>
          <p:cNvSpPr/>
          <p:nvPr/>
        </p:nvSpPr>
        <p:spPr>
          <a:xfrm>
            <a:off x="548640" y="5870448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0A3B3F"/>
          </a:solidFill>
        </p:spPr>
      </p:sp>
      <p:sp>
        <p:nvSpPr>
          <p:cNvPr id="25" name="Text 23"/>
          <p:cNvSpPr/>
          <p:nvPr/>
        </p:nvSpPr>
        <p:spPr>
          <a:xfrm>
            <a:off x="594360" y="5870448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HealthConnect_Appointment_Data_Cleaned.csv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5870448"/>
            <a:ext cx="54251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dataset retained separately and never overwritten.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KEY PERFORMANCE INDICATORS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Five KPIs, recalculated and confirmed in Week 7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36003" cy="3246120"/>
          </a:xfrm>
          <a:prstGeom prst="roundRect">
            <a:avLst>
              <a:gd name="adj" fmla="val 4042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4890" y="2414016"/>
            <a:ext cx="603504" cy="603504"/>
          </a:xfrm>
          <a:prstGeom prst="ellipse">
            <a:avLst/>
          </a:prstGeom>
          <a:solidFill>
            <a:srgbClr val="5FA8A0"/>
          </a:solidFill>
        </p:spPr>
      </p:sp>
      <p:pic>
        <p:nvPicPr>
          <p:cNvPr id="6" name="Image 0" descr="/home/claude/healthconnect_deck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766" y="256489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00400"/>
            <a:ext cx="1853123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5,000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85800" y="4023360"/>
            <a:ext cx="1761683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appointments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13243" y="2148840"/>
            <a:ext cx="2036003" cy="3246120"/>
          </a:xfrm>
          <a:prstGeom prst="roundRect">
            <a:avLst>
              <a:gd name="adj" fmla="val 4042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9493" y="2414016"/>
            <a:ext cx="603504" cy="603504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11" name="Image 1" descr="/home/claude/healthconnect_deck/icons/alert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369" y="256489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4683" y="3200400"/>
            <a:ext cx="1853123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48.46%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2950403" y="4023360"/>
            <a:ext cx="1761683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No-show rate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77846" y="2148840"/>
            <a:ext cx="2036003" cy="3246120"/>
          </a:xfrm>
          <a:prstGeom prst="roundRect">
            <a:avLst>
              <a:gd name="adj" fmla="val 4042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94096" y="2414016"/>
            <a:ext cx="603504" cy="603504"/>
          </a:xfrm>
          <a:prstGeom prst="ellipse">
            <a:avLst/>
          </a:prstGeom>
          <a:solidFill>
            <a:srgbClr val="5FA8A0"/>
          </a:solidFill>
        </p:spPr>
      </p:sp>
      <p:pic>
        <p:nvPicPr>
          <p:cNvPr id="16" name="Image 2" descr="/home/claude/healthconnect_dec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972" y="256489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9286" y="3200400"/>
            <a:ext cx="1853123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46.28%</a:t>
            </a:r>
            <a:endParaRPr lang="en-US" sz="2500" dirty="0"/>
          </a:p>
        </p:txBody>
      </p:sp>
      <p:sp>
        <p:nvSpPr>
          <p:cNvPr id="18" name="Text 13"/>
          <p:cNvSpPr/>
          <p:nvPr/>
        </p:nvSpPr>
        <p:spPr>
          <a:xfrm>
            <a:off x="5215006" y="4023360"/>
            <a:ext cx="1761683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rate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42449" y="2148840"/>
            <a:ext cx="2036003" cy="3246120"/>
          </a:xfrm>
          <a:prstGeom prst="roundRect">
            <a:avLst>
              <a:gd name="adj" fmla="val 4042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58699" y="2414016"/>
            <a:ext cx="603504" cy="603504"/>
          </a:xfrm>
          <a:prstGeom prst="ellipse">
            <a:avLst/>
          </a:prstGeom>
          <a:solidFill>
            <a:srgbClr val="5FA8A0"/>
          </a:solidFill>
        </p:spPr>
      </p:sp>
      <p:pic>
        <p:nvPicPr>
          <p:cNvPr id="21" name="Image 3" descr="/home/claude/healthconnect_deck/icons/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575" y="256489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3889" y="3200400"/>
            <a:ext cx="1853123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72.68%</a:t>
            </a:r>
            <a:endParaRPr lang="en-US" sz="2500" dirty="0"/>
          </a:p>
        </p:txBody>
      </p:sp>
      <p:sp>
        <p:nvSpPr>
          <p:cNvPr id="23" name="Text 17"/>
          <p:cNvSpPr/>
          <p:nvPr/>
        </p:nvSpPr>
        <p:spPr>
          <a:xfrm>
            <a:off x="7479609" y="4023360"/>
            <a:ext cx="1761683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 coverage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607052" y="2148840"/>
            <a:ext cx="2036003" cy="3246120"/>
          </a:xfrm>
          <a:prstGeom prst="roundRect">
            <a:avLst>
              <a:gd name="adj" fmla="val 4042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323302" y="2414016"/>
            <a:ext cx="603504" cy="603504"/>
          </a:xfrm>
          <a:prstGeom prst="ellipse">
            <a:avLst/>
          </a:prstGeom>
          <a:solidFill>
            <a:srgbClr val="5FA8A0"/>
          </a:solidFill>
        </p:spPr>
      </p:sp>
      <p:pic>
        <p:nvPicPr>
          <p:cNvPr id="26" name="Image 4" descr="/home/claude/healthconnect_deck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4178" y="2564892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8492" y="3200400"/>
            <a:ext cx="1853123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29.64</a:t>
            </a:r>
            <a:endParaRPr lang="en-US" sz="2500" dirty="0"/>
          </a:p>
        </p:txBody>
      </p:sp>
      <p:sp>
        <p:nvSpPr>
          <p:cNvPr id="28" name="Text 21"/>
          <p:cNvSpPr/>
          <p:nvPr/>
        </p:nvSpPr>
        <p:spPr>
          <a:xfrm>
            <a:off x="9744212" y="4023360"/>
            <a:ext cx="1761683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booking lead time (days)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against: total records · no-show rate · attendance rate · avg. lead time · reminder coverage · core analytical findings · dashboard consistency · Python–Power BI consistency — all PASS.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1C4C4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KPIS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Longer booking lead time, higher no-show risk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040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37360"/>
            <a:ext cx="3687775" cy="4160520"/>
          </a:xfrm>
          <a:prstGeom prst="roundRect">
            <a:avLst>
              <a:gd name="adj" fmla="val 2480"/>
            </a:avLst>
          </a:prstGeom>
          <a:solidFill>
            <a:srgbClr val="FBDCD0"/>
          </a:solidFill>
        </p:spPr>
      </p:sp>
      <p:sp>
        <p:nvSpPr>
          <p:cNvPr id="6" name="Shape 3"/>
          <p:cNvSpPr/>
          <p:nvPr/>
        </p:nvSpPr>
        <p:spPr>
          <a:xfrm>
            <a:off x="8202168" y="1965960"/>
            <a:ext cx="640080" cy="640080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7" name="Image 0" descr="/home/claude/healthconnect_deck/icons/trending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188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2743200"/>
            <a:ext cx="313913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B844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2.4×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8229600" y="3337560"/>
            <a:ext cx="3139135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no-show rate at 46–60 days out (67.69%) versus 0–7 days out (27.81%).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29600" y="4526280"/>
            <a:ext cx="3139135" cy="0"/>
          </a:xfrm>
          <a:prstGeom prst="line">
            <a:avLst/>
          </a:prstGeom>
          <a:noFill/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0" y="4663440"/>
            <a:ext cx="3139135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lead time is an important variable for segmentation and decision-support monitoring.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LEAD TIME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Past behaviour predicts future attendance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040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37360"/>
            <a:ext cx="3687775" cy="4160520"/>
          </a:xfrm>
          <a:prstGeom prst="roundRect">
            <a:avLst>
              <a:gd name="adj" fmla="val 2480"/>
            </a:avLst>
          </a:prstGeom>
          <a:solidFill>
            <a:srgbClr val="EAF3F1"/>
          </a:solidFill>
        </p:spPr>
      </p:sp>
      <p:sp>
        <p:nvSpPr>
          <p:cNvPr id="6" name="Shape 3"/>
          <p:cNvSpPr/>
          <p:nvPr/>
        </p:nvSpPr>
        <p:spPr>
          <a:xfrm>
            <a:off x="8202168" y="1965960"/>
            <a:ext cx="640080" cy="640080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7" name="Image 0" descr="/home/claude/healthconnect_deck/icons/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188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2788920"/>
            <a:ext cx="313913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3B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43.51% → 100%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229600" y="3520440"/>
            <a:ext cx="3139135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previous no-shows rise from 0 to 5 on record.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29600" y="4206240"/>
            <a:ext cx="3139135" cy="0"/>
          </a:xfrm>
          <a:prstGeom prst="line">
            <a:avLst/>
          </a:prstGeom>
          <a:noFill/>
          <a:ln w="12700">
            <a:solidFill>
              <a:srgbClr val="5FA8A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0" y="4343400"/>
            <a:ext cx="3139135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broader pattern supports using previous appointment behaviour as a relevant segmentation variable for monitoring.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PREVIOUS NO-SHOW HISTORY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ANALYSIS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Risk compounds when variables are analysed together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72237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783080"/>
            <a:ext cx="3550615" cy="4114800"/>
          </a:xfrm>
          <a:prstGeom prst="roundRect">
            <a:avLst>
              <a:gd name="adj" fmla="val 2575"/>
            </a:avLst>
          </a:prstGeom>
          <a:solidFill>
            <a:srgbClr val="0A3B3F"/>
          </a:solidFill>
        </p:spPr>
      </p:sp>
      <p:sp>
        <p:nvSpPr>
          <p:cNvPr id="6" name="Text 3"/>
          <p:cNvSpPr/>
          <p:nvPr/>
        </p:nvSpPr>
        <p:spPr>
          <a:xfrm>
            <a:off x="8348472" y="2057400"/>
            <a:ext cx="3038551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82.11%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48472" y="2697480"/>
            <a:ext cx="3038551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no-show rate for appointments 46–60 days out with 2+ prior no-shows — the highest observed combination.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48472" y="3977640"/>
            <a:ext cx="3038551" cy="0"/>
          </a:xfrm>
          <a:prstGeom prst="line">
            <a:avLst/>
          </a:prstGeom>
          <a:noFill/>
          <a:ln w="12700">
            <a:solidFill>
              <a:srgbClr val="2C6B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48472" y="4114800"/>
            <a:ext cx="3038551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 just 21.77% for short-lead, no-history bookings — showing the extra context gained by analysing variables together rather than in isolation.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ANALYSIS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Reminders track with modestly lower no-show rates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7040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83080"/>
            <a:ext cx="3687775" cy="4114800"/>
          </a:xfrm>
          <a:prstGeom prst="roundRect">
            <a:avLst>
              <a:gd name="adj" fmla="val 2480"/>
            </a:avLst>
          </a:prstGeom>
          <a:solidFill>
            <a:srgbClr val="EAF3F1"/>
          </a:solidFill>
        </p:spPr>
      </p:sp>
      <p:sp>
        <p:nvSpPr>
          <p:cNvPr id="6" name="Shape 3"/>
          <p:cNvSpPr/>
          <p:nvPr/>
        </p:nvSpPr>
        <p:spPr>
          <a:xfrm>
            <a:off x="8202168" y="2011680"/>
            <a:ext cx="640080" cy="640080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7" name="Image 0" descr="/home/claude/healthconnect_deck/icons/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188" y="21717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2834640"/>
            <a:ext cx="3139135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3B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 coverage: 72.68%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0" y="3611880"/>
            <a:ext cx="3139135" cy="0"/>
          </a:xfrm>
          <a:prstGeom prst="line">
            <a:avLst/>
          </a:prstGeom>
          <a:noFill/>
          <a:ln w="12700">
            <a:solidFill>
              <a:srgbClr val="5FA8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0" y="3749040"/>
            <a:ext cx="3139135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every lead-time level shown, reminded appointments have a somewhat lower observed no-show rate than un-reminded ones.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0" y="4800600"/>
            <a:ext cx="3139135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an observed association, not proof that reminders alone cause better attendance — operational factors may influence both.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Distance shows a pattern; waiting time does not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8608" cy="4114800"/>
          </a:xfrm>
          <a:prstGeom prst="roundRect">
            <a:avLst>
              <a:gd name="adj" fmla="val 2222"/>
            </a:avLst>
          </a:prstGeom>
          <a:solidFill>
            <a:srgbClr val="EAF3F1"/>
          </a:solidFill>
        </p:spPr>
      </p:sp>
      <p:sp>
        <p:nvSpPr>
          <p:cNvPr id="5" name="Shape 3"/>
          <p:cNvSpPr/>
          <p:nvPr/>
        </p:nvSpPr>
        <p:spPr>
          <a:xfrm>
            <a:off x="841248" y="2011680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6" name="Image 0" descr="/home/claude/healthconnect_deck/icons/map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534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993392"/>
            <a:ext cx="3965296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 from clinic</a:t>
            </a:r>
            <a:endParaRPr lang="en-US" sz="14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2880360"/>
          <a:ext cx="4769968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841248" y="5257800"/>
            <a:ext cx="473339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segmentation context — not treated as an independent causal explanation.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324448" y="1783080"/>
            <a:ext cx="5318608" cy="4114800"/>
          </a:xfrm>
          <a:prstGeom prst="roundRect">
            <a:avLst>
              <a:gd name="adj" fmla="val 2222"/>
            </a:avLst>
          </a:prstGeom>
          <a:solidFill>
            <a:srgbClr val="EAF3F1"/>
          </a:solidFill>
        </p:spPr>
      </p:sp>
      <p:sp>
        <p:nvSpPr>
          <p:cNvPr id="11" name="Shape 7"/>
          <p:cNvSpPr/>
          <p:nvPr/>
        </p:nvSpPr>
        <p:spPr>
          <a:xfrm>
            <a:off x="6617056" y="2011680"/>
            <a:ext cx="566928" cy="566928"/>
          </a:xfrm>
          <a:prstGeom prst="ellipse">
            <a:avLst/>
          </a:prstGeom>
          <a:solidFill>
            <a:srgbClr val="5FA8A0"/>
          </a:solidFill>
        </p:spPr>
      </p:sp>
      <p:pic>
        <p:nvPicPr>
          <p:cNvPr id="12" name="Image 1" descr="/home/claude/healthconnect_deck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788" y="215341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85152" y="1993392"/>
            <a:ext cx="3965296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Waiting time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617056" y="2880360"/>
            <a:ext cx="225239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</p:spPr>
      </p:sp>
      <p:sp>
        <p:nvSpPr>
          <p:cNvPr id="15" name="Text 10"/>
          <p:cNvSpPr/>
          <p:nvPr/>
        </p:nvSpPr>
        <p:spPr>
          <a:xfrm>
            <a:off x="6754216" y="3048610"/>
            <a:ext cx="1978076" cy="5257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24.29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754216" y="3574390"/>
            <a:ext cx="1978076" cy="3154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wait, attended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098051" y="2880360"/>
            <a:ext cx="225239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</p:spPr>
      </p:sp>
      <p:sp>
        <p:nvSpPr>
          <p:cNvPr id="18" name="Text 13"/>
          <p:cNvSpPr/>
          <p:nvPr/>
        </p:nvSpPr>
        <p:spPr>
          <a:xfrm>
            <a:off x="9235211" y="3048610"/>
            <a:ext cx="1978076" cy="5257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24.20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9235211" y="3574390"/>
            <a:ext cx="1978076" cy="3154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wait, no-show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617056" y="4069080"/>
            <a:ext cx="47333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meaningful difference between attended and no-show appointments.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617056" y="4572000"/>
            <a:ext cx="4733392" cy="0"/>
          </a:xfrm>
          <a:prstGeom prst="line">
            <a:avLst/>
          </a:prstGeom>
          <a:noFill/>
          <a:ln w="12700">
            <a:solidFill>
              <a:srgbClr val="5FA8A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617056" y="4709160"/>
            <a:ext cx="4733392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60+ minute wait category did show a higher observed rate, but contains only 3 records — too small to support a conclusion.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FINDINGS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Data Science flagged weaker model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EAF3F1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51330"/>
            <a:ext cx="1691640" cy="5257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52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1,241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477110"/>
            <a:ext cx="1691640" cy="3154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 65+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1760" y="178308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EAF3F1"/>
          </a:solidFill>
          <a:effectLst>
            <a:outerShdw blurRad="101600" dist="38100" dir="5400000" algn="bl" rotWithShape="0">
              <a:srgbClr val="1B3B3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951330"/>
            <a:ext cx="1691640" cy="5257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45.12%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88920" y="2477110"/>
            <a:ext cx="1691640" cy="3154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no-show rate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26974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the highest of any age group — so weaker model performance here shouldn’t be read as "65+ patients no-show the most."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3017520"/>
          <a:ext cx="69494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34924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D8EAE6"/>
          </a:solidFill>
        </p:spPr>
      </p:sp>
      <p:sp>
        <p:nvSpPr>
          <p:cNvPr id="13" name="Text 10"/>
          <p:cNvSpPr/>
          <p:nvPr/>
        </p:nvSpPr>
        <p:spPr>
          <a:xfrm>
            <a:off x="594360" y="5349240"/>
            <a:ext cx="31546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B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no-shows 0→2+: 37.72% → 61.07%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77640" y="534924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D8EAE6"/>
          </a:solidFill>
        </p:spPr>
      </p:sp>
      <p:sp>
        <p:nvSpPr>
          <p:cNvPr id="15" name="Text 12"/>
          <p:cNvSpPr/>
          <p:nvPr/>
        </p:nvSpPr>
        <p:spPr>
          <a:xfrm>
            <a:off x="4023360" y="5349240"/>
            <a:ext cx="2971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B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 gap: 46.04% vs 44.78%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5806440"/>
            <a:ext cx="6949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 within the 65+ group, lead time and prior no-show history keep explaining more than age alone.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18120" y="1783080"/>
            <a:ext cx="3824935" cy="4526280"/>
          </a:xfrm>
          <a:prstGeom prst="roundRect">
            <a:avLst>
              <a:gd name="adj" fmla="val 2391"/>
            </a:avLst>
          </a:prstGeom>
          <a:solidFill>
            <a:srgbClr val="0A3B3F"/>
          </a:solidFill>
        </p:spPr>
      </p:sp>
      <p:sp>
        <p:nvSpPr>
          <p:cNvPr id="18" name="Shape 15"/>
          <p:cNvSpPr/>
          <p:nvPr/>
        </p:nvSpPr>
        <p:spPr>
          <a:xfrm>
            <a:off x="9401404" y="2066544"/>
            <a:ext cx="658368" cy="658368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19" name="Image 0" descr="/home/claude/healthconnect_deck/icons/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996" y="223113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46720" y="2880360"/>
            <a:ext cx="33677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Specialist Consultation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046720" y="3291840"/>
            <a:ext cx="3367735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other segment where Data Science reported weaker model performance.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38160" y="4114800"/>
            <a:ext cx="3184855" cy="0"/>
          </a:xfrm>
          <a:prstGeom prst="line">
            <a:avLst/>
          </a:prstGeom>
          <a:noFill/>
          <a:ln w="12700">
            <a:solidFill>
              <a:srgbClr val="2C6B6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046720" y="4251960"/>
            <a:ext cx="3367735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verified numerical no-show rate is available in the documented Analytics evidence for this final report.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046720" y="5257800"/>
            <a:ext cx="3367735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Flagged as an open item for further investigation, rather than an estimated figure.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DEEP DIVE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DECISION-SUPPORT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Power BI dashboard, refined not replaced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EAF3F1"/>
          </a:solidFill>
          <a:effectLst>
            <a:outerShdw blurRad="88900" dist="38100" dir="5400000" algn="bl" rotWithShape="0">
              <a:srgbClr val="1B3B3D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1845" y="2048256"/>
            <a:ext cx="658368" cy="65836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6" name="Image 0" descr="/home/claude/healthconnect_deck/icons/monit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437" y="2212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302757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B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1 · Overview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936138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 outcomes, core KPIs, overall attendance &amp; no-show patterns.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3458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EAF3F1"/>
          </a:solidFill>
          <a:effectLst>
            <a:outerShdw blurRad="88900" dist="38100" dir="5400000" algn="bl" rotWithShape="0">
              <a:srgbClr val="1B3B3D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6664" y="2048256"/>
            <a:ext cx="658368" cy="65836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11" name="Image 1" descr="/home/claude/healthconnect_deck/icons/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56" y="22128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2058" y="2834640"/>
            <a:ext cx="302757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B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2 · No-Show Analysis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27778" y="3246120"/>
            <a:ext cx="2936138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Observed no-show patterns across booking lead time and other segments.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EAF3F1"/>
          </a:solidFill>
          <a:effectLst>
            <a:outerShdw blurRad="88900" dist="38100" dir="5400000" algn="bl" rotWithShape="0">
              <a:srgbClr val="1B3B3D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1482" y="2048256"/>
            <a:ext cx="658368" cy="65836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16" name="Image 2" descr="/home/claude/healthconnect_deck/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074" y="22128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6877" y="2834640"/>
            <a:ext cx="302757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B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3 · Booking &amp; Reminder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32597" y="3246120"/>
            <a:ext cx="2936138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behaviour, reminder patterns, and combined variables.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0A3B3F"/>
          </a:solidFill>
        </p:spPr>
      </p:sp>
      <p:sp>
        <p:nvSpPr>
          <p:cNvPr id="20" name="Text 15"/>
          <p:cNvSpPr/>
          <p:nvPr/>
        </p:nvSpPr>
        <p:spPr>
          <a:xfrm>
            <a:off x="868680" y="5193792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SYNCHRONIZED SLICERS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68680" y="553212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072A2D"/>
          </a:solidFill>
        </p:spPr>
      </p:sp>
      <p:sp>
        <p:nvSpPr>
          <p:cNvPr id="22" name="Text 17"/>
          <p:cNvSpPr/>
          <p:nvPr/>
        </p:nvSpPr>
        <p:spPr>
          <a:xfrm>
            <a:off x="914400" y="553212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 Type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017520" y="553212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072A2D"/>
          </a:solidFill>
        </p:spPr>
      </p:sp>
      <p:sp>
        <p:nvSpPr>
          <p:cNvPr id="24" name="Text 19"/>
          <p:cNvSpPr/>
          <p:nvPr/>
        </p:nvSpPr>
        <p:spPr>
          <a:xfrm>
            <a:off x="3063240" y="553212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Group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166360" y="553212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072A2D"/>
          </a:solidFill>
        </p:spPr>
      </p:sp>
      <p:sp>
        <p:nvSpPr>
          <p:cNvPr id="26" name="Text 21"/>
          <p:cNvSpPr/>
          <p:nvPr/>
        </p:nvSpPr>
        <p:spPr>
          <a:xfrm>
            <a:off x="5212080" y="553212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 Group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7406640" y="5193792"/>
            <a:ext cx="39163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Retained and tested across all three pages during Week 7 refinement.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CROSS-TRACK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Analytics ↔ Data Science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8608" cy="2743200"/>
          </a:xfrm>
          <a:prstGeom prst="roundRect">
            <a:avLst>
              <a:gd name="adj" fmla="val 3333"/>
            </a:avLst>
          </a:prstGeom>
          <a:solidFill>
            <a:srgbClr val="EAF3F1"/>
          </a:solidFill>
        </p:spPr>
      </p:sp>
      <p:sp>
        <p:nvSpPr>
          <p:cNvPr id="5" name="Shape 3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6" name="Image 0" descr="/home/claude/healthconnect_deck/icons/sh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1534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993392"/>
            <a:ext cx="4001872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Analytics provided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2788920"/>
            <a:ext cx="4733392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KPIs &amp; no-show patterns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Lead-time &amp; prior no-show analysis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segmentation &amp; distance findings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65+ descriptive evidence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Dashboard-based decision-support insights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24448" y="1783080"/>
            <a:ext cx="5318608" cy="2743200"/>
          </a:xfrm>
          <a:prstGeom prst="roundRect">
            <a:avLst>
              <a:gd name="adj" fmla="val 3333"/>
            </a:avLst>
          </a:prstGeom>
          <a:solidFill>
            <a:srgbClr val="EAF3F1"/>
          </a:solidFill>
        </p:spPr>
      </p:sp>
      <p:sp>
        <p:nvSpPr>
          <p:cNvPr id="10" name="Shape 7"/>
          <p:cNvSpPr/>
          <p:nvPr/>
        </p:nvSpPr>
        <p:spPr>
          <a:xfrm>
            <a:off x="6598768" y="2011680"/>
            <a:ext cx="566928" cy="566928"/>
          </a:xfrm>
          <a:prstGeom prst="ellipse">
            <a:avLst/>
          </a:prstGeom>
          <a:solidFill>
            <a:srgbClr val="5FA8A0"/>
          </a:solidFill>
        </p:spPr>
      </p:sp>
      <p:pic>
        <p:nvPicPr>
          <p:cNvPr id="11" name="Image 1" descr="/home/claude/healthconnect_deck/icons/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500" y="215341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6864" y="1993392"/>
            <a:ext cx="4001872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Data Science provided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17056" y="2788920"/>
            <a:ext cx="4733392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Modelling no-show definition &amp; rate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Segment-level model-performance signals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Specialist Consultation flagged as weaker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65+ flagged as weaker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0A3B3F"/>
          </a:solidFill>
        </p:spPr>
      </p:sp>
      <p:sp>
        <p:nvSpPr>
          <p:cNvPr id="15" name="Text 11"/>
          <p:cNvSpPr/>
          <p:nvPr/>
        </p:nvSpPr>
        <p:spPr>
          <a:xfrm>
            <a:off x="914400" y="4983480"/>
            <a:ext cx="1920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CCC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48.46%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914400" y="5806440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no-show KPI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880360" y="4983480"/>
            <a:ext cx="502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29000" y="4983480"/>
            <a:ext cx="1920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51.2%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3429000" y="580644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modelling rate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943600" y="5029200"/>
            <a:ext cx="0" cy="777240"/>
          </a:xfrm>
          <a:prstGeom prst="line">
            <a:avLst/>
          </a:prstGeom>
          <a:noFill/>
          <a:ln w="12700">
            <a:solidFill>
              <a:srgbClr val="2C6B6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72200" y="4983480"/>
            <a:ext cx="5105095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denominators, not contradictory figures: the Data Science definition excludes cancelled appointments. The distinction is kept explicit throughout so the two measures are never treated as directly comparable.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CROSS-TRACK INTEGRATION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DECISION-SUPPORT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Six ways HealthConnect can act on these findings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EAF3F1"/>
          </a:solidFill>
        </p:spPr>
      </p:sp>
      <p:sp>
        <p:nvSpPr>
          <p:cNvPr id="5" name="Shape 3"/>
          <p:cNvSpPr/>
          <p:nvPr/>
        </p:nvSpPr>
        <p:spPr>
          <a:xfrm>
            <a:off x="722376" y="2002536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6" name="Image 0" descr="/home/claude/healthconnect_deck/icons/c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1442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70048"/>
            <a:ext cx="311292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long booking lead times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3127248"/>
            <a:ext cx="3112922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 far-out bookings in attendance monitoring and admin planning.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8218" y="182880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EAF3F1"/>
          </a:solidFill>
        </p:spPr>
      </p:sp>
      <p:sp>
        <p:nvSpPr>
          <p:cNvPr id="10" name="Shape 7"/>
          <p:cNvSpPr/>
          <p:nvPr/>
        </p:nvSpPr>
        <p:spPr>
          <a:xfrm>
            <a:off x="4511954" y="2002536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11" name="Image 1" descr="/home/claude/healthconnect_deck/icons/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686" y="214426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9386" y="2670048"/>
            <a:ext cx="311292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prior attendance for segmentation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39386" y="3127248"/>
            <a:ext cx="3112922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 previous no-show history into administrative prioritisation.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82880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EAF3F1"/>
          </a:solidFill>
        </p:spPr>
      </p:sp>
      <p:sp>
        <p:nvSpPr>
          <p:cNvPr id="15" name="Shape 11"/>
          <p:cNvSpPr/>
          <p:nvPr/>
        </p:nvSpPr>
        <p:spPr>
          <a:xfrm>
            <a:off x="8301533" y="2002536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16" name="Image 2" descr="/home/claude/healthconnect_deck/icons/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265" y="214426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2670048"/>
            <a:ext cx="311292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reminder monitoring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28965" y="3127248"/>
            <a:ext cx="3112922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reminder delivery; investigate whether it reaches appointments consistently.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EAF3F1"/>
          </a:solidFill>
        </p:spPr>
      </p:sp>
      <p:sp>
        <p:nvSpPr>
          <p:cNvPr id="20" name="Shape 15"/>
          <p:cNvSpPr/>
          <p:nvPr/>
        </p:nvSpPr>
        <p:spPr>
          <a:xfrm>
            <a:off x="722376" y="4242816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21" name="Image 3" descr="/home/claude/healthconnect_dec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8454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910328"/>
            <a:ext cx="311292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combined patterns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5367528"/>
            <a:ext cx="3112922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lead time + history together, not single variables in isolation.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8218" y="406908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EAF3F1"/>
          </a:solidFill>
        </p:spPr>
      </p:sp>
      <p:sp>
        <p:nvSpPr>
          <p:cNvPr id="25" name="Shape 19"/>
          <p:cNvSpPr/>
          <p:nvPr/>
        </p:nvSpPr>
        <p:spPr>
          <a:xfrm>
            <a:off x="4511954" y="4242816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26" name="Image 4" descr="/home/claude/healthconnect_deck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686" y="438454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39386" y="4910328"/>
            <a:ext cx="311292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segment-level model performance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39386" y="5367528"/>
            <a:ext cx="3112922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extra attention to Specialist Consultation and 65+ patients.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27797" y="406908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EAF3F1"/>
          </a:solidFill>
        </p:spPr>
      </p:sp>
      <p:sp>
        <p:nvSpPr>
          <p:cNvPr id="30" name="Shape 23"/>
          <p:cNvSpPr/>
          <p:nvPr/>
        </p:nvSpPr>
        <p:spPr>
          <a:xfrm>
            <a:off x="8301533" y="4242816"/>
            <a:ext cx="566928" cy="566928"/>
          </a:xfrm>
          <a:prstGeom prst="ellipse">
            <a:avLst/>
          </a:prstGeom>
          <a:solidFill>
            <a:srgbClr val="0F5257"/>
          </a:solidFill>
        </p:spPr>
      </p:sp>
      <p:pic>
        <p:nvPicPr>
          <p:cNvPr id="31" name="Image 5" descr="/home/claude/healthconnect_deck/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265" y="438454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8965" y="4910328"/>
            <a:ext cx="311292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Analytics &amp; Data Science together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28965" y="5367528"/>
            <a:ext cx="3112922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Descriptive findings and predictive models are complementary, not interchangeable.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E4E2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5C6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INTERPRETATION 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analysis does — and doesn’t — establish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7450" cy="1965960"/>
          </a:xfrm>
          <a:prstGeom prst="roundRect">
            <a:avLst>
              <a:gd name="adj" fmla="val 4186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8045" y="2057400"/>
            <a:ext cx="548640" cy="548640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6" name="Image 0" descr="/home/claude/healthconnect_deck/icons/ey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205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316169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Observational, not causal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136392"/>
            <a:ext cx="312511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 and associations in appointment records — not proven causal relationships.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32122" y="1874520"/>
            <a:ext cx="3527450" cy="1965960"/>
          </a:xfrm>
          <a:prstGeom prst="roundRect">
            <a:avLst>
              <a:gd name="adj" fmla="val 4186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21528" y="2057400"/>
            <a:ext cx="548640" cy="548640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11" name="Image 1" descr="/home/claude/healthconnect_deck/icons/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688" y="2194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5002" y="2697480"/>
            <a:ext cx="316169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Reminders aren’t proven causal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33290" y="3136392"/>
            <a:ext cx="312511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no-shows among reminded patients is an association; operational factors may drive both.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115605" y="1874520"/>
            <a:ext cx="3527450" cy="1965960"/>
          </a:xfrm>
          <a:prstGeom prst="roundRect">
            <a:avLst>
              <a:gd name="adj" fmla="val 4186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5010" y="2057400"/>
            <a:ext cx="548640" cy="548640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16" name="Image 2" descr="/home/claude/healthconnect_dec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2170" y="21945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2697480"/>
            <a:ext cx="316169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groups need caution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16773" y="3136392"/>
            <a:ext cx="312511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the 60+ minute waiting-time category contains only 3 records.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2312365" y="4160520"/>
            <a:ext cx="3527450" cy="1965960"/>
          </a:xfrm>
          <a:prstGeom prst="roundRect">
            <a:avLst>
              <a:gd name="adj" fmla="val 4186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801770" y="4343400"/>
            <a:ext cx="548640" cy="548640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21" name="Image 3" descr="/home/claude/healthconnect_deck/icons/alert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930" y="44805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95245" y="4983480"/>
            <a:ext cx="316169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Definitions differ by track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513533" y="5422392"/>
            <a:ext cx="312511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(48.46%) and Data Science (51.2%) no-show rates use different denominators.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6095848" y="4160520"/>
            <a:ext cx="3527450" cy="1965960"/>
          </a:xfrm>
          <a:prstGeom prst="roundRect">
            <a:avLst>
              <a:gd name="adj" fmla="val 4186"/>
            </a:avLst>
          </a:prstGeom>
          <a:solidFill>
            <a:srgbClr val="072A2D"/>
          </a:solidFill>
          <a:ln w="12700">
            <a:solidFill>
              <a:srgbClr val="1C4C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585253" y="4343400"/>
            <a:ext cx="548640" cy="548640"/>
          </a:xfrm>
          <a:prstGeom prst="ellipse">
            <a:avLst/>
          </a:prstGeom>
          <a:solidFill>
            <a:srgbClr val="E4572E"/>
          </a:solidFill>
        </p:spPr>
      </p:sp>
      <p:pic>
        <p:nvPicPr>
          <p:cNvPr id="26" name="Image 4" descr="/home/claude/healthconnect_deck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413" y="44805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78728" y="4983480"/>
            <a:ext cx="316169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fit ≠ observed behaviour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297016" y="5422392"/>
            <a:ext cx="312511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Weaker model performance for 65+ / Specialist Consultation isn’t the same as the highest no-show rate.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1C4C4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716975" y="6492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" dirty="0">
                <a:solidFill>
                  <a:srgbClr val="A9C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HealthConnect Clinic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validated foundation for smarter appointment decisions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0324" y="1965960"/>
            <a:ext cx="1005840" cy="457200"/>
          </a:xfrm>
          <a:prstGeom prst="roundRect">
            <a:avLst>
              <a:gd name="adj" fmla="val 18000"/>
            </a:avLst>
          </a:prstGeom>
          <a:solidFill>
            <a:srgbClr val="072A2D"/>
          </a:solidFill>
          <a:ln w="12700">
            <a:solidFill>
              <a:srgbClr val="2C6B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0324" y="196596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47876" y="19659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7332" y="1965960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072A2D"/>
          </a:solidFill>
          <a:ln w="12700">
            <a:solidFill>
              <a:srgbClr val="2C6B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7332" y="196596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83484" y="19659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02940" y="1965960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072A2D"/>
          </a:solidFill>
          <a:ln w="12700">
            <a:solidFill>
              <a:srgbClr val="2C6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2940" y="196596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9092" y="19659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38548" y="1965960"/>
            <a:ext cx="1280160" cy="457200"/>
          </a:xfrm>
          <a:prstGeom prst="roundRect">
            <a:avLst>
              <a:gd name="adj" fmla="val 18000"/>
            </a:avLst>
          </a:prstGeom>
          <a:solidFill>
            <a:srgbClr val="072A2D"/>
          </a:solidFill>
          <a:ln w="12700">
            <a:solidFill>
              <a:srgbClr val="2C6B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8548" y="196596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00420" y="19659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19876" y="1965960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072A2D"/>
          </a:solidFill>
          <a:ln w="12700">
            <a:solidFill>
              <a:srgbClr val="2C6B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9876" y="196596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36028" y="19659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55484" y="1965960"/>
            <a:ext cx="1508760" cy="457200"/>
          </a:xfrm>
          <a:prstGeom prst="roundRect">
            <a:avLst>
              <a:gd name="adj" fmla="val 18000"/>
            </a:avLst>
          </a:prstGeom>
          <a:solidFill>
            <a:srgbClr val="072A2D"/>
          </a:solidFill>
          <a:ln w="12700">
            <a:solidFill>
              <a:srgbClr val="2C6B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55484" y="1965960"/>
            <a:ext cx="1508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45956" y="19659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65412" y="1965960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E4572E"/>
          </a:solidFill>
          <a:ln w="12700">
            <a:solidFill>
              <a:srgbClr val="2C6B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5412" y="196596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Decisions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2880360"/>
            <a:ext cx="9997135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E7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5,000 appointment records became a validated analytical and decision-support package: consistent KPIs, tested findings, a refined Power BI dashboard, and boundary-aware recommendations connected to Data Science modelling.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2057949" cy="457200"/>
          </a:xfrm>
          <a:prstGeom prst="roundRect">
            <a:avLst>
              <a:gd name="adj" fmla="val 50000"/>
            </a:avLst>
          </a:prstGeom>
          <a:solidFill>
            <a:srgbClr val="072A2D"/>
          </a:solidFill>
        </p:spPr>
      </p:sp>
      <p:sp>
        <p:nvSpPr>
          <p:cNvPr id="28" name="Text 26"/>
          <p:cNvSpPr/>
          <p:nvPr/>
        </p:nvSpPr>
        <p:spPr>
          <a:xfrm>
            <a:off x="594360" y="4160520"/>
            <a:ext cx="1966509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monitoring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07757" y="4160520"/>
            <a:ext cx="2057949" cy="457200"/>
          </a:xfrm>
          <a:prstGeom prst="roundRect">
            <a:avLst>
              <a:gd name="adj" fmla="val 50000"/>
            </a:avLst>
          </a:prstGeom>
          <a:solidFill>
            <a:srgbClr val="072A2D"/>
          </a:solidFill>
        </p:spPr>
      </p:sp>
      <p:sp>
        <p:nvSpPr>
          <p:cNvPr id="30" name="Text 28"/>
          <p:cNvSpPr/>
          <p:nvPr/>
        </p:nvSpPr>
        <p:spPr>
          <a:xfrm>
            <a:off x="2853477" y="4160520"/>
            <a:ext cx="1966509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Administrative prioritisation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66873" y="4160520"/>
            <a:ext cx="2057949" cy="457200"/>
          </a:xfrm>
          <a:prstGeom prst="roundRect">
            <a:avLst>
              <a:gd name="adj" fmla="val 50000"/>
            </a:avLst>
          </a:prstGeom>
          <a:solidFill>
            <a:srgbClr val="072A2D"/>
          </a:solidFill>
        </p:spPr>
      </p:sp>
      <p:sp>
        <p:nvSpPr>
          <p:cNvPr id="32" name="Text 30"/>
          <p:cNvSpPr/>
          <p:nvPr/>
        </p:nvSpPr>
        <p:spPr>
          <a:xfrm>
            <a:off x="5112593" y="4160520"/>
            <a:ext cx="1966509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Dashboard-based decisions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25990" y="4160520"/>
            <a:ext cx="2057949" cy="457200"/>
          </a:xfrm>
          <a:prstGeom prst="roundRect">
            <a:avLst>
              <a:gd name="adj" fmla="val 50000"/>
            </a:avLst>
          </a:prstGeom>
          <a:solidFill>
            <a:srgbClr val="072A2D"/>
          </a:solidFill>
        </p:spPr>
      </p:sp>
      <p:sp>
        <p:nvSpPr>
          <p:cNvPr id="34" name="Text 32"/>
          <p:cNvSpPr/>
          <p:nvPr/>
        </p:nvSpPr>
        <p:spPr>
          <a:xfrm>
            <a:off x="7371710" y="4160520"/>
            <a:ext cx="1966509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interpretation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85107" y="4160520"/>
            <a:ext cx="2057949" cy="457200"/>
          </a:xfrm>
          <a:prstGeom prst="roundRect">
            <a:avLst>
              <a:gd name="adj" fmla="val 50000"/>
            </a:avLst>
          </a:prstGeom>
          <a:solidFill>
            <a:srgbClr val="072A2D"/>
          </a:solidFill>
        </p:spPr>
      </p:sp>
      <p:sp>
        <p:nvSpPr>
          <p:cNvPr id="36" name="Text 34"/>
          <p:cNvSpPr/>
          <p:nvPr/>
        </p:nvSpPr>
        <p:spPr>
          <a:xfrm>
            <a:off x="9630827" y="4160520"/>
            <a:ext cx="1966509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C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Further investigation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 flipV="1">
            <a:off x="4618355" y="5236845"/>
            <a:ext cx="2940685" cy="20955"/>
          </a:xfrm>
          <a:prstGeom prst="line">
            <a:avLst/>
          </a:prstGeom>
          <a:noFill/>
          <a:ln w="12700">
            <a:solidFill>
              <a:srgbClr val="5FA8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8711</Words>
  <Application>WPS Presentation</Application>
  <PresentationFormat>On-screen Show (16:9)</PresentationFormat>
  <Paragraphs>475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</cp:lastModifiedBy>
  <cp:revision>26</cp:revision>
  <dcterms:created xsi:type="dcterms:W3CDTF">2026-09-26T18:28:00Z</dcterms:created>
  <dcterms:modified xsi:type="dcterms:W3CDTF">2026-09-26T21:09:03Z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BF0F3DFE01C74242951FE97C357CDBE7_13</vt:lpwstr>
  </property>
</Properties>
</file>